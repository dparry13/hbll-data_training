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Cosmic Octo Medium" charset="1" panose="00000600000000000000"/>
      <p:regular r:id="rId15"/>
    </p:embeddedFont>
    <p:embeddedFont>
      <p:font typeface="Pompiere" charset="1" panose="02000000000000000000"/>
      <p:regular r:id="rId16"/>
    </p:embeddedFont>
    <p:embeddedFont>
      <p:font typeface="Canva Sans" charset="1" panose="020B0503030501040103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3.pn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4.png" Type="http://schemas.openxmlformats.org/officeDocument/2006/relationships/image"/><Relationship Id="rId13" Target="../media/image15.pn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6.pn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7.png" Type="http://schemas.openxmlformats.org/officeDocument/2006/relationships/image"/><Relationship Id="rId13" Target="../media/image18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9.pn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20.png" Type="http://schemas.openxmlformats.org/officeDocument/2006/relationships/image"/><Relationship Id="rId13" Target="../media/image21.svg" Type="http://schemas.openxmlformats.org/officeDocument/2006/relationships/image"/><Relationship Id="rId14" Target="../media/image22.png" Type="http://schemas.openxmlformats.org/officeDocument/2006/relationships/image"/><Relationship Id="rId15" Target="../media/image23.svg" Type="http://schemas.openxmlformats.org/officeDocument/2006/relationships/image"/><Relationship Id="rId16" Target="https://www.oreilly.com/library/view/using-openrefine/9781783289080/ch03.html#ch03lvl1sec24" TargetMode="External" Type="http://schemas.openxmlformats.org/officeDocument/2006/relationships/hyperlink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24.png" Type="http://schemas.openxmlformats.org/officeDocument/2006/relationships/image"/><Relationship Id="rId13" Target="../media/image17.png" Type="http://schemas.openxmlformats.org/officeDocument/2006/relationships/image"/><Relationship Id="rId14" Target="../media/image18.svg" Type="http://schemas.openxmlformats.org/officeDocument/2006/relationships/image"/><Relationship Id="rId15" Target="../media/image25.png" Type="http://schemas.openxmlformats.org/officeDocument/2006/relationships/image"/><Relationship Id="rId16" Target="../media/image26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509" t="0" r="-7436" b="-4325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971609" y="-3294860"/>
            <a:ext cx="6882777" cy="6753725"/>
          </a:xfrm>
          <a:custGeom>
            <a:avLst/>
            <a:gdLst/>
            <a:ahLst/>
            <a:cxnLst/>
            <a:rect r="r" b="b" t="t" l="l"/>
            <a:pathLst>
              <a:path h="6753725" w="6882777">
                <a:moveTo>
                  <a:pt x="0" y="0"/>
                </a:moveTo>
                <a:lnTo>
                  <a:pt x="6882777" y="0"/>
                </a:lnTo>
                <a:lnTo>
                  <a:pt x="6882777" y="6753725"/>
                </a:lnTo>
                <a:lnTo>
                  <a:pt x="0" y="67537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270666">
            <a:off x="-1310519" y="105573"/>
            <a:ext cx="4938582" cy="4134005"/>
          </a:xfrm>
          <a:custGeom>
            <a:avLst/>
            <a:gdLst/>
            <a:ahLst/>
            <a:cxnLst/>
            <a:rect r="r" b="b" t="t" l="l"/>
            <a:pathLst>
              <a:path h="4134005" w="4938582">
                <a:moveTo>
                  <a:pt x="4938582" y="0"/>
                </a:moveTo>
                <a:lnTo>
                  <a:pt x="0" y="0"/>
                </a:lnTo>
                <a:lnTo>
                  <a:pt x="0" y="4134005"/>
                </a:lnTo>
                <a:lnTo>
                  <a:pt x="4938582" y="4134005"/>
                </a:lnTo>
                <a:lnTo>
                  <a:pt x="4938582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4466587">
            <a:off x="10711255" y="5758753"/>
            <a:ext cx="3644094" cy="3115701"/>
          </a:xfrm>
          <a:custGeom>
            <a:avLst/>
            <a:gdLst/>
            <a:ahLst/>
            <a:cxnLst/>
            <a:rect r="r" b="b" t="t" l="l"/>
            <a:pathLst>
              <a:path h="3115701" w="3644094">
                <a:moveTo>
                  <a:pt x="0" y="3115701"/>
                </a:moveTo>
                <a:lnTo>
                  <a:pt x="3644095" y="3115701"/>
                </a:lnTo>
                <a:lnTo>
                  <a:pt x="3644095" y="0"/>
                </a:lnTo>
                <a:lnTo>
                  <a:pt x="0" y="0"/>
                </a:lnTo>
                <a:lnTo>
                  <a:pt x="0" y="3115701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767401" y="3476795"/>
            <a:ext cx="12922323" cy="23298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80"/>
              </a:lnSpc>
            </a:pPr>
            <a:r>
              <a:rPr lang="en-US" sz="11000">
                <a:solidFill>
                  <a:srgbClr val="FFFFFF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become a data wizard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273080" y="6001018"/>
            <a:ext cx="6778605" cy="830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799">
                <a:solidFill>
                  <a:srgbClr val="FFFFFF"/>
                </a:solidFill>
                <a:latin typeface="Pompiere"/>
                <a:ea typeface="Pompiere"/>
                <a:cs typeface="Pompiere"/>
                <a:sym typeface="Pompiere"/>
              </a:rPr>
              <a:t>Data Cleaning with OpenRefine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-662337" y="7387623"/>
            <a:ext cx="20649439" cy="3746044"/>
            <a:chOff x="0" y="0"/>
            <a:chExt cx="27532586" cy="499472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9519200" y="1235157"/>
              <a:ext cx="9753600" cy="3759569"/>
            </a:xfrm>
            <a:custGeom>
              <a:avLst/>
              <a:gdLst/>
              <a:ahLst/>
              <a:cxnLst/>
              <a:rect r="r" b="b" t="t" l="l"/>
              <a:pathLst>
                <a:path h="3759569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3759569"/>
                  </a:lnTo>
                  <a:lnTo>
                    <a:pt x="0" y="37595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7778986" y="106266"/>
              <a:ext cx="9753600" cy="3759569"/>
            </a:xfrm>
            <a:custGeom>
              <a:avLst/>
              <a:gdLst/>
              <a:ahLst/>
              <a:cxnLst/>
              <a:rect r="r" b="b" t="t" l="l"/>
              <a:pathLst>
                <a:path h="3759569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3759570"/>
                  </a:lnTo>
                  <a:lnTo>
                    <a:pt x="0" y="3759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449382" cy="4027762"/>
            </a:xfrm>
            <a:custGeom>
              <a:avLst/>
              <a:gdLst/>
              <a:ahLst/>
              <a:cxnLst/>
              <a:rect r="r" b="b" t="t" l="l"/>
              <a:pathLst>
                <a:path h="4027762" w="10449382">
                  <a:moveTo>
                    <a:pt x="0" y="0"/>
                  </a:moveTo>
                  <a:lnTo>
                    <a:pt x="10449382" y="0"/>
                  </a:lnTo>
                  <a:lnTo>
                    <a:pt x="10449382" y="4027762"/>
                  </a:lnTo>
                  <a:lnTo>
                    <a:pt x="0" y="40277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878757" y="1814591"/>
            <a:ext cx="4762409" cy="5573032"/>
          </a:xfrm>
          <a:custGeom>
            <a:avLst/>
            <a:gdLst/>
            <a:ahLst/>
            <a:cxnLst/>
            <a:rect r="r" b="b" t="t" l="l"/>
            <a:pathLst>
              <a:path h="5573032" w="4762409">
                <a:moveTo>
                  <a:pt x="0" y="0"/>
                </a:moveTo>
                <a:lnTo>
                  <a:pt x="4762409" y="0"/>
                </a:lnTo>
                <a:lnTo>
                  <a:pt x="4762409" y="5573032"/>
                </a:lnTo>
                <a:lnTo>
                  <a:pt x="0" y="5573032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509" t="0" r="-7436" b="-4325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032954" y="-2260195"/>
            <a:ext cx="5141557" cy="5045153"/>
          </a:xfrm>
          <a:custGeom>
            <a:avLst/>
            <a:gdLst/>
            <a:ahLst/>
            <a:cxnLst/>
            <a:rect r="r" b="b" t="t" l="l"/>
            <a:pathLst>
              <a:path h="5045153" w="5141557">
                <a:moveTo>
                  <a:pt x="0" y="0"/>
                </a:moveTo>
                <a:lnTo>
                  <a:pt x="5141556" y="0"/>
                </a:lnTo>
                <a:lnTo>
                  <a:pt x="5141556" y="5045153"/>
                </a:lnTo>
                <a:lnTo>
                  <a:pt x="0" y="50451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09483">
            <a:off x="720435" y="184225"/>
            <a:ext cx="4131087" cy="3458064"/>
          </a:xfrm>
          <a:custGeom>
            <a:avLst/>
            <a:gdLst/>
            <a:ahLst/>
            <a:cxnLst/>
            <a:rect r="r" b="b" t="t" l="l"/>
            <a:pathLst>
              <a:path h="3458064" w="4131087">
                <a:moveTo>
                  <a:pt x="0" y="0"/>
                </a:moveTo>
                <a:lnTo>
                  <a:pt x="4131087" y="0"/>
                </a:lnTo>
                <a:lnTo>
                  <a:pt x="4131087" y="3458064"/>
                </a:lnTo>
                <a:lnTo>
                  <a:pt x="0" y="34580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4466587">
            <a:off x="13792243" y="2528510"/>
            <a:ext cx="3644094" cy="3115701"/>
          </a:xfrm>
          <a:custGeom>
            <a:avLst/>
            <a:gdLst/>
            <a:ahLst/>
            <a:cxnLst/>
            <a:rect r="r" b="b" t="t" l="l"/>
            <a:pathLst>
              <a:path h="3115701" w="3644094">
                <a:moveTo>
                  <a:pt x="0" y="3115700"/>
                </a:moveTo>
                <a:lnTo>
                  <a:pt x="3644095" y="3115700"/>
                </a:lnTo>
                <a:lnTo>
                  <a:pt x="3644095" y="0"/>
                </a:lnTo>
                <a:lnTo>
                  <a:pt x="0" y="0"/>
                </a:lnTo>
                <a:lnTo>
                  <a:pt x="0" y="311570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680259" y="7510730"/>
            <a:ext cx="20649439" cy="3746044"/>
            <a:chOff x="0" y="0"/>
            <a:chExt cx="27532586" cy="499472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9519200" y="1235157"/>
              <a:ext cx="9753600" cy="3759569"/>
            </a:xfrm>
            <a:custGeom>
              <a:avLst/>
              <a:gdLst/>
              <a:ahLst/>
              <a:cxnLst/>
              <a:rect r="r" b="b" t="t" l="l"/>
              <a:pathLst>
                <a:path h="3759569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3759569"/>
                  </a:lnTo>
                  <a:lnTo>
                    <a:pt x="0" y="37595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7778986" y="106266"/>
              <a:ext cx="9753600" cy="3759569"/>
            </a:xfrm>
            <a:custGeom>
              <a:avLst/>
              <a:gdLst/>
              <a:ahLst/>
              <a:cxnLst/>
              <a:rect r="r" b="b" t="t" l="l"/>
              <a:pathLst>
                <a:path h="3759569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3759570"/>
                  </a:lnTo>
                  <a:lnTo>
                    <a:pt x="0" y="3759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449382" cy="4027762"/>
            </a:xfrm>
            <a:custGeom>
              <a:avLst/>
              <a:gdLst/>
              <a:ahLst/>
              <a:cxnLst/>
              <a:rect r="r" b="b" t="t" l="l"/>
              <a:pathLst>
                <a:path h="4027762" w="10449382">
                  <a:moveTo>
                    <a:pt x="0" y="0"/>
                  </a:moveTo>
                  <a:lnTo>
                    <a:pt x="10449382" y="0"/>
                  </a:lnTo>
                  <a:lnTo>
                    <a:pt x="10449382" y="4027762"/>
                  </a:lnTo>
                  <a:lnTo>
                    <a:pt x="0" y="40277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509" t="0" r="-7436" b="-4325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032954" y="-2260195"/>
            <a:ext cx="5141557" cy="5045153"/>
          </a:xfrm>
          <a:custGeom>
            <a:avLst/>
            <a:gdLst/>
            <a:ahLst/>
            <a:cxnLst/>
            <a:rect r="r" b="b" t="t" l="l"/>
            <a:pathLst>
              <a:path h="5045153" w="5141557">
                <a:moveTo>
                  <a:pt x="0" y="0"/>
                </a:moveTo>
                <a:lnTo>
                  <a:pt x="5141556" y="0"/>
                </a:lnTo>
                <a:lnTo>
                  <a:pt x="5141556" y="5045153"/>
                </a:lnTo>
                <a:lnTo>
                  <a:pt x="0" y="50451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09483">
            <a:off x="720435" y="184225"/>
            <a:ext cx="4131087" cy="3458064"/>
          </a:xfrm>
          <a:custGeom>
            <a:avLst/>
            <a:gdLst/>
            <a:ahLst/>
            <a:cxnLst/>
            <a:rect r="r" b="b" t="t" l="l"/>
            <a:pathLst>
              <a:path h="3458064" w="4131087">
                <a:moveTo>
                  <a:pt x="0" y="0"/>
                </a:moveTo>
                <a:lnTo>
                  <a:pt x="4131087" y="0"/>
                </a:lnTo>
                <a:lnTo>
                  <a:pt x="4131087" y="3458064"/>
                </a:lnTo>
                <a:lnTo>
                  <a:pt x="0" y="34580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4466587">
            <a:off x="14476511" y="2240760"/>
            <a:ext cx="3644094" cy="3115701"/>
          </a:xfrm>
          <a:custGeom>
            <a:avLst/>
            <a:gdLst/>
            <a:ahLst/>
            <a:cxnLst/>
            <a:rect r="r" b="b" t="t" l="l"/>
            <a:pathLst>
              <a:path h="3115701" w="3644094">
                <a:moveTo>
                  <a:pt x="0" y="3115701"/>
                </a:moveTo>
                <a:lnTo>
                  <a:pt x="3644094" y="3115701"/>
                </a:lnTo>
                <a:lnTo>
                  <a:pt x="3644094" y="0"/>
                </a:lnTo>
                <a:lnTo>
                  <a:pt x="0" y="0"/>
                </a:lnTo>
                <a:lnTo>
                  <a:pt x="0" y="3115701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662337" y="7387623"/>
            <a:ext cx="20649439" cy="3746044"/>
            <a:chOff x="0" y="0"/>
            <a:chExt cx="27532586" cy="499472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9519200" y="1235157"/>
              <a:ext cx="9753600" cy="3759569"/>
            </a:xfrm>
            <a:custGeom>
              <a:avLst/>
              <a:gdLst/>
              <a:ahLst/>
              <a:cxnLst/>
              <a:rect r="r" b="b" t="t" l="l"/>
              <a:pathLst>
                <a:path h="3759569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3759569"/>
                  </a:lnTo>
                  <a:lnTo>
                    <a:pt x="0" y="37595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7778986" y="106266"/>
              <a:ext cx="9753600" cy="3759569"/>
            </a:xfrm>
            <a:custGeom>
              <a:avLst/>
              <a:gdLst/>
              <a:ahLst/>
              <a:cxnLst/>
              <a:rect r="r" b="b" t="t" l="l"/>
              <a:pathLst>
                <a:path h="3759569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3759570"/>
                  </a:lnTo>
                  <a:lnTo>
                    <a:pt x="0" y="3759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449382" cy="4027762"/>
            </a:xfrm>
            <a:custGeom>
              <a:avLst/>
              <a:gdLst/>
              <a:ahLst/>
              <a:cxnLst/>
              <a:rect r="r" b="b" t="t" l="l"/>
              <a:pathLst>
                <a:path h="4027762" w="10449382">
                  <a:moveTo>
                    <a:pt x="0" y="0"/>
                  </a:moveTo>
                  <a:lnTo>
                    <a:pt x="10449382" y="0"/>
                  </a:lnTo>
                  <a:lnTo>
                    <a:pt x="10449382" y="4027762"/>
                  </a:lnTo>
                  <a:lnTo>
                    <a:pt x="0" y="40277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298514" y="2194447"/>
            <a:ext cx="9030988" cy="6662117"/>
            <a:chOff x="0" y="0"/>
            <a:chExt cx="2378532" cy="175463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78532" cy="1754632"/>
            </a:xfrm>
            <a:custGeom>
              <a:avLst/>
              <a:gdLst/>
              <a:ahLst/>
              <a:cxnLst/>
              <a:rect r="r" b="b" t="t" l="l"/>
              <a:pathLst>
                <a:path h="1754632" w="2378532">
                  <a:moveTo>
                    <a:pt x="0" y="0"/>
                  </a:moveTo>
                  <a:lnTo>
                    <a:pt x="2378532" y="0"/>
                  </a:lnTo>
                  <a:lnTo>
                    <a:pt x="2378532" y="1754632"/>
                  </a:lnTo>
                  <a:lnTo>
                    <a:pt x="0" y="1754632"/>
                  </a:lnTo>
                  <a:close/>
                </a:path>
              </a:pathLst>
            </a:custGeom>
            <a:solidFill>
              <a:srgbClr val="52446A">
                <a:alpha val="85882"/>
              </a:srgbClr>
            </a:solidFill>
            <a:ln w="38100" cap="sq">
              <a:solidFill>
                <a:srgbClr val="131223">
                  <a:alpha val="85882"/>
                </a:srgbClr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378532" cy="17927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555163" y="3419398"/>
            <a:ext cx="8517691" cy="1356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70"/>
              </a:lnSpc>
            </a:pPr>
            <a:r>
              <a:rPr lang="en-US" sz="6500">
                <a:solidFill>
                  <a:srgbClr val="FFFFFF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What is Openrefine?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730959" y="3530444"/>
            <a:ext cx="3732429" cy="3990124"/>
          </a:xfrm>
          <a:custGeom>
            <a:avLst/>
            <a:gdLst/>
            <a:ahLst/>
            <a:cxnLst/>
            <a:rect r="r" b="b" t="t" l="l"/>
            <a:pathLst>
              <a:path h="3990124" w="3732429">
                <a:moveTo>
                  <a:pt x="0" y="0"/>
                </a:moveTo>
                <a:lnTo>
                  <a:pt x="3732429" y="0"/>
                </a:lnTo>
                <a:lnTo>
                  <a:pt x="3732429" y="3990124"/>
                </a:lnTo>
                <a:lnTo>
                  <a:pt x="0" y="399012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7984146" y="5086350"/>
            <a:ext cx="7659724" cy="2150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69293" indent="-334646" lvl="1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FFFFFF"/>
                </a:solidFill>
                <a:latin typeface="Pompiere"/>
                <a:ea typeface="Pompiere"/>
                <a:cs typeface="Pompiere"/>
                <a:sym typeface="Pompiere"/>
              </a:rPr>
              <a:t>A powerful, free tool for cleaning messy data</a:t>
            </a:r>
          </a:p>
          <a:p>
            <a:pPr algn="ctr" marL="669293" indent="-334646" lvl="1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FFFFFF"/>
                </a:solidFill>
                <a:latin typeface="Pompiere"/>
                <a:ea typeface="Pompiere"/>
                <a:cs typeface="Pompiere"/>
                <a:sym typeface="Pompiere"/>
              </a:rPr>
              <a:t>User-Friendly: a point-and-click interface</a:t>
            </a:r>
          </a:p>
          <a:p>
            <a:pPr algn="ctr" marL="669293" indent="-334646" lvl="1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FFFFFF"/>
                </a:solidFill>
                <a:latin typeface="Pompiere"/>
                <a:ea typeface="Pompiere"/>
                <a:cs typeface="Pompiere"/>
                <a:sym typeface="Pompiere"/>
              </a:rPr>
              <a:t>Efficient: cleans thousands of rows at once</a:t>
            </a:r>
          </a:p>
          <a:p>
            <a:pPr algn="ctr" marL="669293" indent="-334646" lvl="1">
              <a:lnSpc>
                <a:spcPts val="4340"/>
              </a:lnSpc>
              <a:buFont typeface="Arial"/>
              <a:buChar char="•"/>
            </a:pPr>
            <a:r>
              <a:rPr lang="en-US" sz="3100">
                <a:solidFill>
                  <a:srgbClr val="FFFFFF"/>
                </a:solidFill>
                <a:latin typeface="Pompiere"/>
                <a:ea typeface="Pompiere"/>
                <a:cs typeface="Pompiere"/>
                <a:sym typeface="Pompiere"/>
              </a:rPr>
              <a:t>Safe: original data file stays untouched while you work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6753400" y="8233692"/>
            <a:ext cx="1603526" cy="1529363"/>
          </a:xfrm>
          <a:custGeom>
            <a:avLst/>
            <a:gdLst/>
            <a:ahLst/>
            <a:cxnLst/>
            <a:rect r="r" b="b" t="t" l="l"/>
            <a:pathLst>
              <a:path h="1529363" w="1603526">
                <a:moveTo>
                  <a:pt x="0" y="0"/>
                </a:moveTo>
                <a:lnTo>
                  <a:pt x="1603526" y="0"/>
                </a:lnTo>
                <a:lnTo>
                  <a:pt x="1603526" y="1529363"/>
                </a:lnTo>
                <a:lnTo>
                  <a:pt x="0" y="152936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5271091" y="8233692"/>
            <a:ext cx="1603526" cy="1529363"/>
          </a:xfrm>
          <a:custGeom>
            <a:avLst/>
            <a:gdLst/>
            <a:ahLst/>
            <a:cxnLst/>
            <a:rect r="r" b="b" t="t" l="l"/>
            <a:pathLst>
              <a:path h="1529363" w="1603526">
                <a:moveTo>
                  <a:pt x="0" y="0"/>
                </a:moveTo>
                <a:lnTo>
                  <a:pt x="1603526" y="0"/>
                </a:lnTo>
                <a:lnTo>
                  <a:pt x="1603526" y="1529363"/>
                </a:lnTo>
                <a:lnTo>
                  <a:pt x="0" y="1529363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509" t="0" r="-7436" b="-4325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032954" y="-2260195"/>
            <a:ext cx="5141557" cy="5045153"/>
          </a:xfrm>
          <a:custGeom>
            <a:avLst/>
            <a:gdLst/>
            <a:ahLst/>
            <a:cxnLst/>
            <a:rect r="r" b="b" t="t" l="l"/>
            <a:pathLst>
              <a:path h="5045153" w="5141557">
                <a:moveTo>
                  <a:pt x="0" y="0"/>
                </a:moveTo>
                <a:lnTo>
                  <a:pt x="5141556" y="0"/>
                </a:lnTo>
                <a:lnTo>
                  <a:pt x="5141556" y="5045153"/>
                </a:lnTo>
                <a:lnTo>
                  <a:pt x="0" y="50451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09483">
            <a:off x="720435" y="184225"/>
            <a:ext cx="4131087" cy="3458064"/>
          </a:xfrm>
          <a:custGeom>
            <a:avLst/>
            <a:gdLst/>
            <a:ahLst/>
            <a:cxnLst/>
            <a:rect r="r" b="b" t="t" l="l"/>
            <a:pathLst>
              <a:path h="3458064" w="4131087">
                <a:moveTo>
                  <a:pt x="0" y="0"/>
                </a:moveTo>
                <a:lnTo>
                  <a:pt x="4131087" y="0"/>
                </a:lnTo>
                <a:lnTo>
                  <a:pt x="4131087" y="3458064"/>
                </a:lnTo>
                <a:lnTo>
                  <a:pt x="0" y="34580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4466587">
            <a:off x="14258851" y="2947608"/>
            <a:ext cx="3644094" cy="3115701"/>
          </a:xfrm>
          <a:custGeom>
            <a:avLst/>
            <a:gdLst/>
            <a:ahLst/>
            <a:cxnLst/>
            <a:rect r="r" b="b" t="t" l="l"/>
            <a:pathLst>
              <a:path h="3115701" w="3644094">
                <a:moveTo>
                  <a:pt x="0" y="3115700"/>
                </a:moveTo>
                <a:lnTo>
                  <a:pt x="3644095" y="3115700"/>
                </a:lnTo>
                <a:lnTo>
                  <a:pt x="3644095" y="0"/>
                </a:lnTo>
                <a:lnTo>
                  <a:pt x="0" y="0"/>
                </a:lnTo>
                <a:lnTo>
                  <a:pt x="0" y="311570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662337" y="7387623"/>
            <a:ext cx="20649439" cy="3746044"/>
            <a:chOff x="0" y="0"/>
            <a:chExt cx="27532586" cy="499472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9519200" y="1235157"/>
              <a:ext cx="9753600" cy="3759569"/>
            </a:xfrm>
            <a:custGeom>
              <a:avLst/>
              <a:gdLst/>
              <a:ahLst/>
              <a:cxnLst/>
              <a:rect r="r" b="b" t="t" l="l"/>
              <a:pathLst>
                <a:path h="3759569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3759569"/>
                  </a:lnTo>
                  <a:lnTo>
                    <a:pt x="0" y="37595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7778986" y="106266"/>
              <a:ext cx="9753600" cy="3759569"/>
            </a:xfrm>
            <a:custGeom>
              <a:avLst/>
              <a:gdLst/>
              <a:ahLst/>
              <a:cxnLst/>
              <a:rect r="r" b="b" t="t" l="l"/>
              <a:pathLst>
                <a:path h="3759569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3759570"/>
                  </a:lnTo>
                  <a:lnTo>
                    <a:pt x="0" y="3759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449382" cy="4027762"/>
            </a:xfrm>
            <a:custGeom>
              <a:avLst/>
              <a:gdLst/>
              <a:ahLst/>
              <a:cxnLst/>
              <a:rect r="r" b="b" t="t" l="l"/>
              <a:pathLst>
                <a:path h="4027762" w="10449382">
                  <a:moveTo>
                    <a:pt x="0" y="0"/>
                  </a:moveTo>
                  <a:lnTo>
                    <a:pt x="10449382" y="0"/>
                  </a:lnTo>
                  <a:lnTo>
                    <a:pt x="10449382" y="4027762"/>
                  </a:lnTo>
                  <a:lnTo>
                    <a:pt x="0" y="40277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556554" y="2332355"/>
            <a:ext cx="8524345" cy="6386302"/>
            <a:chOff x="0" y="0"/>
            <a:chExt cx="2245095" cy="168198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245095" cy="1681989"/>
            </a:xfrm>
            <a:custGeom>
              <a:avLst/>
              <a:gdLst/>
              <a:ahLst/>
              <a:cxnLst/>
              <a:rect r="r" b="b" t="t" l="l"/>
              <a:pathLst>
                <a:path h="1681989" w="2245095">
                  <a:moveTo>
                    <a:pt x="0" y="0"/>
                  </a:moveTo>
                  <a:lnTo>
                    <a:pt x="2245095" y="0"/>
                  </a:lnTo>
                  <a:lnTo>
                    <a:pt x="2245095" y="1681989"/>
                  </a:lnTo>
                  <a:lnTo>
                    <a:pt x="0" y="1681989"/>
                  </a:lnTo>
                  <a:close/>
                </a:path>
              </a:pathLst>
            </a:custGeom>
            <a:solidFill>
              <a:srgbClr val="52446A">
                <a:alpha val="85882"/>
              </a:srgbClr>
            </a:solidFill>
            <a:ln w="38100" cap="sq">
              <a:solidFill>
                <a:srgbClr val="131223">
                  <a:alpha val="85882"/>
                </a:srgbClr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245095" cy="17200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7988864" y="3262133"/>
            <a:ext cx="7365785" cy="4221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36320" indent="-518160" lvl="1">
              <a:lnSpc>
                <a:spcPts val="6719"/>
              </a:lnSpc>
              <a:buFont typeface="Arial"/>
              <a:buChar char="•"/>
            </a:pPr>
            <a:r>
              <a:rPr lang="en-US" sz="4800">
                <a:solidFill>
                  <a:srgbClr val="FFFFFF"/>
                </a:solidFill>
                <a:latin typeface="Pompiere"/>
                <a:ea typeface="Pompiere"/>
                <a:cs typeface="Pompiere"/>
                <a:sym typeface="Pompiere"/>
              </a:rPr>
              <a:t>Navigate the OpenRefine Interface</a:t>
            </a:r>
          </a:p>
          <a:p>
            <a:pPr algn="l" marL="1036320" indent="-518160" lvl="1">
              <a:lnSpc>
                <a:spcPts val="6719"/>
              </a:lnSpc>
              <a:buFont typeface="Arial"/>
              <a:buChar char="•"/>
            </a:pPr>
            <a:r>
              <a:rPr lang="en-US" sz="4800">
                <a:solidFill>
                  <a:srgbClr val="FFFFFF"/>
                </a:solidFill>
                <a:latin typeface="Pompiere"/>
                <a:ea typeface="Pompiere"/>
                <a:cs typeface="Pompiere"/>
                <a:sym typeface="Pompiere"/>
              </a:rPr>
              <a:t>Audit Data through Faceting</a:t>
            </a:r>
          </a:p>
          <a:p>
            <a:pPr algn="l" marL="1036320" indent="-518160" lvl="1">
              <a:lnSpc>
                <a:spcPts val="6719"/>
              </a:lnSpc>
              <a:buFont typeface="Arial"/>
              <a:buChar char="•"/>
            </a:pPr>
            <a:r>
              <a:rPr lang="en-US" sz="4800">
                <a:solidFill>
                  <a:srgbClr val="FFFFFF"/>
                </a:solidFill>
                <a:latin typeface="Pompiere"/>
                <a:ea typeface="Pompiere"/>
                <a:cs typeface="Pompiere"/>
                <a:sym typeface="Pompiere"/>
              </a:rPr>
              <a:t>Standardize Data</a:t>
            </a:r>
          </a:p>
          <a:p>
            <a:pPr algn="l" marL="1036320" indent="-518160" lvl="1">
              <a:lnSpc>
                <a:spcPts val="6719"/>
              </a:lnSpc>
              <a:buFont typeface="Arial"/>
              <a:buChar char="•"/>
            </a:pPr>
            <a:r>
              <a:rPr lang="en-US" sz="4800">
                <a:solidFill>
                  <a:srgbClr val="FFFFFF"/>
                </a:solidFill>
                <a:latin typeface="Pompiere"/>
                <a:ea typeface="Pompiere"/>
                <a:cs typeface="Pompiere"/>
                <a:sym typeface="Pompiere"/>
              </a:rPr>
              <a:t>Clean Cells with Transformations</a:t>
            </a:r>
          </a:p>
          <a:p>
            <a:pPr algn="l" marL="1036320" indent="-518160" lvl="1">
              <a:lnSpc>
                <a:spcPts val="6719"/>
              </a:lnSpc>
              <a:buFont typeface="Arial"/>
              <a:buChar char="•"/>
            </a:pPr>
            <a:r>
              <a:rPr lang="en-US" sz="4800">
                <a:solidFill>
                  <a:srgbClr val="FFFFFF"/>
                </a:solidFill>
                <a:latin typeface="Pompiere"/>
                <a:ea typeface="Pompiere"/>
                <a:cs typeface="Pompiere"/>
                <a:sym typeface="Pompiere"/>
              </a:rPr>
              <a:t>Document and Export Results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698238" y="2065655"/>
            <a:ext cx="6240977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50"/>
              </a:lnSpc>
            </a:pPr>
            <a:r>
              <a:rPr lang="en-US" sz="7500">
                <a:solidFill>
                  <a:srgbClr val="FFFFFF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Goals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626829" y="3396731"/>
            <a:ext cx="4620426" cy="3990893"/>
          </a:xfrm>
          <a:custGeom>
            <a:avLst/>
            <a:gdLst/>
            <a:ahLst/>
            <a:cxnLst/>
            <a:rect r="r" b="b" t="t" l="l"/>
            <a:pathLst>
              <a:path h="3990893" w="4620426">
                <a:moveTo>
                  <a:pt x="0" y="0"/>
                </a:moveTo>
                <a:lnTo>
                  <a:pt x="4620426" y="0"/>
                </a:lnTo>
                <a:lnTo>
                  <a:pt x="4620426" y="3990892"/>
                </a:lnTo>
                <a:lnTo>
                  <a:pt x="0" y="399089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509" t="0" r="-7436" b="-4325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032954" y="-2260195"/>
            <a:ext cx="5141557" cy="5045153"/>
          </a:xfrm>
          <a:custGeom>
            <a:avLst/>
            <a:gdLst/>
            <a:ahLst/>
            <a:cxnLst/>
            <a:rect r="r" b="b" t="t" l="l"/>
            <a:pathLst>
              <a:path h="5045153" w="5141557">
                <a:moveTo>
                  <a:pt x="0" y="0"/>
                </a:moveTo>
                <a:lnTo>
                  <a:pt x="5141556" y="0"/>
                </a:lnTo>
                <a:lnTo>
                  <a:pt x="5141556" y="5045153"/>
                </a:lnTo>
                <a:lnTo>
                  <a:pt x="0" y="50451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09483">
            <a:off x="720435" y="184225"/>
            <a:ext cx="4131087" cy="3458064"/>
          </a:xfrm>
          <a:custGeom>
            <a:avLst/>
            <a:gdLst/>
            <a:ahLst/>
            <a:cxnLst/>
            <a:rect r="r" b="b" t="t" l="l"/>
            <a:pathLst>
              <a:path h="3458064" w="4131087">
                <a:moveTo>
                  <a:pt x="0" y="0"/>
                </a:moveTo>
                <a:lnTo>
                  <a:pt x="4131087" y="0"/>
                </a:lnTo>
                <a:lnTo>
                  <a:pt x="4131087" y="3458064"/>
                </a:lnTo>
                <a:lnTo>
                  <a:pt x="0" y="34580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4466587">
            <a:off x="14258851" y="2947608"/>
            <a:ext cx="3644094" cy="3115701"/>
          </a:xfrm>
          <a:custGeom>
            <a:avLst/>
            <a:gdLst/>
            <a:ahLst/>
            <a:cxnLst/>
            <a:rect r="r" b="b" t="t" l="l"/>
            <a:pathLst>
              <a:path h="3115701" w="3644094">
                <a:moveTo>
                  <a:pt x="0" y="3115700"/>
                </a:moveTo>
                <a:lnTo>
                  <a:pt x="3644095" y="3115700"/>
                </a:lnTo>
                <a:lnTo>
                  <a:pt x="3644095" y="0"/>
                </a:lnTo>
                <a:lnTo>
                  <a:pt x="0" y="0"/>
                </a:lnTo>
                <a:lnTo>
                  <a:pt x="0" y="311570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994422" y="2740016"/>
            <a:ext cx="8299156" cy="4806969"/>
            <a:chOff x="0" y="0"/>
            <a:chExt cx="2185786" cy="12660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85786" cy="1266033"/>
            </a:xfrm>
            <a:custGeom>
              <a:avLst/>
              <a:gdLst/>
              <a:ahLst/>
              <a:cxnLst/>
              <a:rect r="r" b="b" t="t" l="l"/>
              <a:pathLst>
                <a:path h="1266033" w="2185786">
                  <a:moveTo>
                    <a:pt x="0" y="0"/>
                  </a:moveTo>
                  <a:lnTo>
                    <a:pt x="2185786" y="0"/>
                  </a:lnTo>
                  <a:lnTo>
                    <a:pt x="2185786" y="1266033"/>
                  </a:lnTo>
                  <a:lnTo>
                    <a:pt x="0" y="1266033"/>
                  </a:lnTo>
                  <a:close/>
                </a:path>
              </a:pathLst>
            </a:custGeom>
            <a:solidFill>
              <a:srgbClr val="52446A">
                <a:alpha val="85882"/>
              </a:srgbClr>
            </a:solidFill>
            <a:ln w="38100" cap="sq">
              <a:solidFill>
                <a:srgbClr val="131223">
                  <a:alpha val="85882"/>
                </a:srgbClr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185786" cy="13041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662337" y="7387623"/>
            <a:ext cx="20649439" cy="3746044"/>
            <a:chOff x="0" y="0"/>
            <a:chExt cx="27532586" cy="499472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9519200" y="1235157"/>
              <a:ext cx="9753600" cy="3759569"/>
            </a:xfrm>
            <a:custGeom>
              <a:avLst/>
              <a:gdLst/>
              <a:ahLst/>
              <a:cxnLst/>
              <a:rect r="r" b="b" t="t" l="l"/>
              <a:pathLst>
                <a:path h="3759569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3759569"/>
                  </a:lnTo>
                  <a:lnTo>
                    <a:pt x="0" y="37595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17778986" y="106266"/>
              <a:ext cx="9753600" cy="3759569"/>
            </a:xfrm>
            <a:custGeom>
              <a:avLst/>
              <a:gdLst/>
              <a:ahLst/>
              <a:cxnLst/>
              <a:rect r="r" b="b" t="t" l="l"/>
              <a:pathLst>
                <a:path h="3759569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3759570"/>
                  </a:lnTo>
                  <a:lnTo>
                    <a:pt x="0" y="3759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449382" cy="4027762"/>
            </a:xfrm>
            <a:custGeom>
              <a:avLst/>
              <a:gdLst/>
              <a:ahLst/>
              <a:cxnLst/>
              <a:rect r="r" b="b" t="t" l="l"/>
              <a:pathLst>
                <a:path h="4027762" w="10449382">
                  <a:moveTo>
                    <a:pt x="0" y="0"/>
                  </a:moveTo>
                  <a:lnTo>
                    <a:pt x="10449382" y="0"/>
                  </a:lnTo>
                  <a:lnTo>
                    <a:pt x="10449382" y="4027762"/>
                  </a:lnTo>
                  <a:lnTo>
                    <a:pt x="0" y="40277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242759">
            <a:off x="11375077" y="5803179"/>
            <a:ext cx="2638786" cy="2292670"/>
          </a:xfrm>
          <a:custGeom>
            <a:avLst/>
            <a:gdLst/>
            <a:ahLst/>
            <a:cxnLst/>
            <a:rect r="r" b="b" t="t" l="l"/>
            <a:pathLst>
              <a:path h="2292670" w="2638786">
                <a:moveTo>
                  <a:pt x="0" y="0"/>
                </a:moveTo>
                <a:lnTo>
                  <a:pt x="2638786" y="0"/>
                </a:lnTo>
                <a:lnTo>
                  <a:pt x="2638786" y="2292670"/>
                </a:lnTo>
                <a:lnTo>
                  <a:pt x="0" y="229267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272255" y="2282196"/>
            <a:ext cx="11743490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50"/>
              </a:lnSpc>
            </a:pPr>
            <a:r>
              <a:rPr lang="en-US" sz="7500">
                <a:solidFill>
                  <a:srgbClr val="FFFFFF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Link for DataSet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210587" y="4401061"/>
            <a:ext cx="7866826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sz="5600">
                <a:solidFill>
                  <a:srgbClr val="FFFFFF"/>
                </a:solidFill>
                <a:latin typeface="Pompiere"/>
                <a:ea typeface="Pompiere"/>
                <a:cs typeface="Pompiere"/>
                <a:sym typeface="Pompiere"/>
              </a:rPr>
              <a:t>https://tinyurl.com/yh78cdv7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227821" y="5382546"/>
            <a:ext cx="7832357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FFFFFF"/>
                </a:solidFill>
                <a:latin typeface="Pompiere"/>
                <a:ea typeface="Pompiere"/>
                <a:cs typeface="Pompiere"/>
                <a:sym typeface="Pompiere"/>
              </a:rPr>
              <a:t>(if you haven’t received an email with a link)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509" t="0" r="-7436" b="-4325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032954" y="-2260195"/>
            <a:ext cx="5141557" cy="5045153"/>
          </a:xfrm>
          <a:custGeom>
            <a:avLst/>
            <a:gdLst/>
            <a:ahLst/>
            <a:cxnLst/>
            <a:rect r="r" b="b" t="t" l="l"/>
            <a:pathLst>
              <a:path h="5045153" w="5141557">
                <a:moveTo>
                  <a:pt x="0" y="0"/>
                </a:moveTo>
                <a:lnTo>
                  <a:pt x="5141556" y="0"/>
                </a:lnTo>
                <a:lnTo>
                  <a:pt x="5141556" y="5045153"/>
                </a:lnTo>
                <a:lnTo>
                  <a:pt x="0" y="50451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09483">
            <a:off x="661913" y="-469038"/>
            <a:ext cx="4131087" cy="3458064"/>
          </a:xfrm>
          <a:custGeom>
            <a:avLst/>
            <a:gdLst/>
            <a:ahLst/>
            <a:cxnLst/>
            <a:rect r="r" b="b" t="t" l="l"/>
            <a:pathLst>
              <a:path h="3458064" w="4131087">
                <a:moveTo>
                  <a:pt x="0" y="0"/>
                </a:moveTo>
                <a:lnTo>
                  <a:pt x="4131088" y="0"/>
                </a:lnTo>
                <a:lnTo>
                  <a:pt x="4131088" y="3458064"/>
                </a:lnTo>
                <a:lnTo>
                  <a:pt x="0" y="34580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4466587">
            <a:off x="14200330" y="2294345"/>
            <a:ext cx="3644094" cy="3115701"/>
          </a:xfrm>
          <a:custGeom>
            <a:avLst/>
            <a:gdLst/>
            <a:ahLst/>
            <a:cxnLst/>
            <a:rect r="r" b="b" t="t" l="l"/>
            <a:pathLst>
              <a:path h="3115701" w="3644094">
                <a:moveTo>
                  <a:pt x="0" y="3115701"/>
                </a:moveTo>
                <a:lnTo>
                  <a:pt x="3644094" y="3115701"/>
                </a:lnTo>
                <a:lnTo>
                  <a:pt x="3644094" y="0"/>
                </a:lnTo>
                <a:lnTo>
                  <a:pt x="0" y="0"/>
                </a:lnTo>
                <a:lnTo>
                  <a:pt x="0" y="3115701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49870" y="3081103"/>
            <a:ext cx="3893595" cy="4074185"/>
            <a:chOff x="0" y="0"/>
            <a:chExt cx="1025474" cy="107303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25474" cy="1073036"/>
            </a:xfrm>
            <a:custGeom>
              <a:avLst/>
              <a:gdLst/>
              <a:ahLst/>
              <a:cxnLst/>
              <a:rect r="r" b="b" t="t" l="l"/>
              <a:pathLst>
                <a:path h="1073036" w="1025474">
                  <a:moveTo>
                    <a:pt x="0" y="0"/>
                  </a:moveTo>
                  <a:lnTo>
                    <a:pt x="1025474" y="0"/>
                  </a:lnTo>
                  <a:lnTo>
                    <a:pt x="1025474" y="1073036"/>
                  </a:lnTo>
                  <a:lnTo>
                    <a:pt x="0" y="1073036"/>
                  </a:lnTo>
                  <a:close/>
                </a:path>
              </a:pathLst>
            </a:custGeom>
            <a:solidFill>
              <a:srgbClr val="52446A">
                <a:alpha val="85882"/>
              </a:srgbClr>
            </a:solidFill>
            <a:ln w="38100" cap="sq">
              <a:solidFill>
                <a:srgbClr val="131223">
                  <a:alpha val="85882"/>
                </a:srgbClr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025474" cy="11111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3584710" y="751205"/>
            <a:ext cx="10892660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50"/>
              </a:lnSpc>
            </a:pPr>
            <a:r>
              <a:rPr lang="en-US" sz="7500">
                <a:solidFill>
                  <a:srgbClr val="FFFFFF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CHALLENGE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-655940" y="7378173"/>
            <a:ext cx="20649439" cy="3746044"/>
            <a:chOff x="0" y="0"/>
            <a:chExt cx="27532586" cy="499472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9519200" y="1235157"/>
              <a:ext cx="9753600" cy="3759569"/>
            </a:xfrm>
            <a:custGeom>
              <a:avLst/>
              <a:gdLst/>
              <a:ahLst/>
              <a:cxnLst/>
              <a:rect r="r" b="b" t="t" l="l"/>
              <a:pathLst>
                <a:path h="3759569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3759569"/>
                  </a:lnTo>
                  <a:lnTo>
                    <a:pt x="0" y="37595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17778986" y="106266"/>
              <a:ext cx="9753600" cy="3759569"/>
            </a:xfrm>
            <a:custGeom>
              <a:avLst/>
              <a:gdLst/>
              <a:ahLst/>
              <a:cxnLst/>
              <a:rect r="r" b="b" t="t" l="l"/>
              <a:pathLst>
                <a:path h="3759569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3759570"/>
                  </a:lnTo>
                  <a:lnTo>
                    <a:pt x="0" y="3759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449382" cy="4027762"/>
            </a:xfrm>
            <a:custGeom>
              <a:avLst/>
              <a:gdLst/>
              <a:ahLst/>
              <a:cxnLst/>
              <a:rect r="r" b="b" t="t" l="l"/>
              <a:pathLst>
                <a:path h="4027762" w="10449382">
                  <a:moveTo>
                    <a:pt x="0" y="0"/>
                  </a:moveTo>
                  <a:lnTo>
                    <a:pt x="10449382" y="0"/>
                  </a:lnTo>
                  <a:lnTo>
                    <a:pt x="10449382" y="4027762"/>
                  </a:lnTo>
                  <a:lnTo>
                    <a:pt x="0" y="40277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-58522" y="2448284"/>
            <a:ext cx="4472138" cy="497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0"/>
              </a:lnSpc>
            </a:pPr>
            <a:r>
              <a:rPr lang="en-US" sz="4500">
                <a:solidFill>
                  <a:srgbClr val="FFFFFF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Time Traveler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89135" y="4019988"/>
            <a:ext cx="3615065" cy="2150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0"/>
              </a:lnSpc>
            </a:pPr>
            <a:r>
              <a:rPr lang="en-US" sz="3100">
                <a:solidFill>
                  <a:srgbClr val="FFFFFF"/>
                </a:solidFill>
                <a:latin typeface="Pompiere"/>
                <a:ea typeface="Pompiere"/>
                <a:cs typeface="Pompiere"/>
                <a:sym typeface="Pompiere"/>
              </a:rPr>
              <a:t>Find the people whose “Years of Experience” is higher than their “Age.” What will you do with these entries?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4999057" y="3081103"/>
            <a:ext cx="3774372" cy="4074185"/>
            <a:chOff x="0" y="0"/>
            <a:chExt cx="994073" cy="107303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94073" cy="1073036"/>
            </a:xfrm>
            <a:custGeom>
              <a:avLst/>
              <a:gdLst/>
              <a:ahLst/>
              <a:cxnLst/>
              <a:rect r="r" b="b" t="t" l="l"/>
              <a:pathLst>
                <a:path h="1073036" w="994073">
                  <a:moveTo>
                    <a:pt x="0" y="0"/>
                  </a:moveTo>
                  <a:lnTo>
                    <a:pt x="994073" y="0"/>
                  </a:lnTo>
                  <a:lnTo>
                    <a:pt x="994073" y="1073036"/>
                  </a:lnTo>
                  <a:lnTo>
                    <a:pt x="0" y="1073036"/>
                  </a:lnTo>
                  <a:close/>
                </a:path>
              </a:pathLst>
            </a:custGeom>
            <a:solidFill>
              <a:srgbClr val="52446A">
                <a:alpha val="85882"/>
              </a:srgbClr>
            </a:solidFill>
            <a:ln w="38100" cap="sq">
              <a:solidFill>
                <a:srgbClr val="131223">
                  <a:alpha val="85882"/>
                </a:srgbClr>
              </a:solidFill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994073" cy="11111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4568061" y="2922988"/>
            <a:ext cx="4636366" cy="497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0"/>
              </a:lnSpc>
            </a:pPr>
            <a:r>
              <a:rPr lang="en-US" sz="4500">
                <a:solidFill>
                  <a:srgbClr val="FFFFFF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Millionaire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668780" y="3081103"/>
            <a:ext cx="3673974" cy="4074185"/>
            <a:chOff x="0" y="0"/>
            <a:chExt cx="967631" cy="107303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67631" cy="1073036"/>
            </a:xfrm>
            <a:custGeom>
              <a:avLst/>
              <a:gdLst/>
              <a:ahLst/>
              <a:cxnLst/>
              <a:rect r="r" b="b" t="t" l="l"/>
              <a:pathLst>
                <a:path h="1073036" w="967631">
                  <a:moveTo>
                    <a:pt x="0" y="0"/>
                  </a:moveTo>
                  <a:lnTo>
                    <a:pt x="967631" y="0"/>
                  </a:lnTo>
                  <a:lnTo>
                    <a:pt x="967631" y="1073036"/>
                  </a:lnTo>
                  <a:lnTo>
                    <a:pt x="0" y="1073036"/>
                  </a:lnTo>
                  <a:close/>
                </a:path>
              </a:pathLst>
            </a:custGeom>
            <a:solidFill>
              <a:srgbClr val="52446A">
                <a:alpha val="85882"/>
              </a:srgbClr>
            </a:solidFill>
            <a:ln w="38100" cap="sq">
              <a:solidFill>
                <a:srgbClr val="131223">
                  <a:alpha val="85882"/>
                </a:srgbClr>
              </a:solidFill>
              <a:prstDash val="solid"/>
              <a:miter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967631" cy="11111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5099456" y="4014566"/>
            <a:ext cx="3673974" cy="1607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0"/>
              </a:lnSpc>
            </a:pPr>
            <a:r>
              <a:rPr lang="en-US" sz="3100">
                <a:solidFill>
                  <a:srgbClr val="FFFFFF"/>
                </a:solidFill>
                <a:latin typeface="Pompiere"/>
                <a:ea typeface="Pompiere"/>
                <a:cs typeface="Pompiere"/>
                <a:sym typeface="Pompiere"/>
              </a:rPr>
              <a:t>Find entries with salaries so high that they must be errors. How will you deal with these?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764030" y="4014566"/>
            <a:ext cx="3578724" cy="2150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0"/>
              </a:lnSpc>
            </a:pPr>
            <a:r>
              <a:rPr lang="en-US" sz="3100">
                <a:solidFill>
                  <a:srgbClr val="FFFFFF"/>
                </a:solidFill>
                <a:latin typeface="Pompiere"/>
                <a:ea typeface="Pompiere"/>
                <a:cs typeface="Pompiere"/>
                <a:sym typeface="Pompiere"/>
              </a:rPr>
              <a:t>Find entries with “Other” reported as their currency, but then write “USD” for that other currency.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381874" y="2564861"/>
            <a:ext cx="4304250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0"/>
              </a:lnSpc>
            </a:pPr>
            <a:r>
              <a:rPr lang="en-US" sz="4500">
                <a:solidFill>
                  <a:srgbClr val="FFFFFF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Currency Confuser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4237446" y="3081103"/>
            <a:ext cx="3774372" cy="4074185"/>
            <a:chOff x="0" y="0"/>
            <a:chExt cx="994073" cy="107303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94073" cy="1073036"/>
            </a:xfrm>
            <a:custGeom>
              <a:avLst/>
              <a:gdLst/>
              <a:ahLst/>
              <a:cxnLst/>
              <a:rect r="r" b="b" t="t" l="l"/>
              <a:pathLst>
                <a:path h="1073036" w="994073">
                  <a:moveTo>
                    <a:pt x="0" y="0"/>
                  </a:moveTo>
                  <a:lnTo>
                    <a:pt x="994073" y="0"/>
                  </a:lnTo>
                  <a:lnTo>
                    <a:pt x="994073" y="1073036"/>
                  </a:lnTo>
                  <a:lnTo>
                    <a:pt x="0" y="1073036"/>
                  </a:lnTo>
                  <a:close/>
                </a:path>
              </a:pathLst>
            </a:custGeom>
            <a:solidFill>
              <a:srgbClr val="52446A">
                <a:alpha val="85882"/>
              </a:srgbClr>
            </a:solidFill>
            <a:ln w="38100" cap="sq">
              <a:solidFill>
                <a:srgbClr val="131223">
                  <a:alpha val="85882"/>
                </a:srgbClr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994073" cy="11111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3972507" y="2577520"/>
            <a:ext cx="4304250" cy="93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0"/>
              </a:lnSpc>
            </a:pPr>
            <a:r>
              <a:rPr lang="en-US" sz="4500">
                <a:solidFill>
                  <a:srgbClr val="FFFFFF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Location Cleanup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418849" y="3795045"/>
            <a:ext cx="3578724" cy="1607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0"/>
              </a:lnSpc>
            </a:pPr>
            <a:r>
              <a:rPr lang="en-US" sz="3100">
                <a:solidFill>
                  <a:srgbClr val="FFFFFF"/>
                </a:solidFill>
                <a:latin typeface="Pompiere"/>
                <a:ea typeface="Pompiere"/>
                <a:cs typeface="Pompiere"/>
                <a:sym typeface="Pompiere"/>
              </a:rPr>
              <a:t>See who can get “Country” down to the fewest number of choices!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4004200" y="7717263"/>
            <a:ext cx="10414649" cy="1475117"/>
            <a:chOff x="0" y="0"/>
            <a:chExt cx="2742953" cy="38850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742953" cy="388508"/>
            </a:xfrm>
            <a:custGeom>
              <a:avLst/>
              <a:gdLst/>
              <a:ahLst/>
              <a:cxnLst/>
              <a:rect r="r" b="b" t="t" l="l"/>
              <a:pathLst>
                <a:path h="388508" w="2742953">
                  <a:moveTo>
                    <a:pt x="0" y="0"/>
                  </a:moveTo>
                  <a:lnTo>
                    <a:pt x="2742953" y="0"/>
                  </a:lnTo>
                  <a:lnTo>
                    <a:pt x="2742953" y="388508"/>
                  </a:lnTo>
                  <a:lnTo>
                    <a:pt x="0" y="388508"/>
                  </a:lnTo>
                  <a:close/>
                </a:path>
              </a:pathLst>
            </a:custGeom>
            <a:solidFill>
              <a:srgbClr val="52446A">
                <a:alpha val="85882"/>
              </a:srgbClr>
            </a:solidFill>
            <a:ln w="38100" cap="sq">
              <a:solidFill>
                <a:srgbClr val="131223">
                  <a:alpha val="85882"/>
                </a:srgbClr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2742953" cy="4266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4568061" y="8165579"/>
            <a:ext cx="9138861" cy="521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40"/>
              </a:lnSpc>
            </a:pPr>
            <a:r>
              <a:rPr lang="en-US" sz="3100">
                <a:solidFill>
                  <a:srgbClr val="FFFFFF"/>
                </a:solidFill>
                <a:latin typeface="Pompiere"/>
                <a:ea typeface="Pompiere"/>
                <a:cs typeface="Pompiere"/>
                <a:sym typeface="Pompiere"/>
              </a:rPr>
              <a:t>Find something else you want to work on cleaning! There are lots of options!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3526188" y="7559148"/>
            <a:ext cx="11448244" cy="497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0"/>
              </a:lnSpc>
            </a:pPr>
            <a:r>
              <a:rPr lang="en-US" sz="4500">
                <a:solidFill>
                  <a:srgbClr val="FFFFFF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Choose your Own Adventure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509" t="0" r="-7436" b="-4325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032954" y="-2260195"/>
            <a:ext cx="5141557" cy="5045153"/>
          </a:xfrm>
          <a:custGeom>
            <a:avLst/>
            <a:gdLst/>
            <a:ahLst/>
            <a:cxnLst/>
            <a:rect r="r" b="b" t="t" l="l"/>
            <a:pathLst>
              <a:path h="5045153" w="5141557">
                <a:moveTo>
                  <a:pt x="0" y="0"/>
                </a:moveTo>
                <a:lnTo>
                  <a:pt x="5141556" y="0"/>
                </a:lnTo>
                <a:lnTo>
                  <a:pt x="5141556" y="5045153"/>
                </a:lnTo>
                <a:lnTo>
                  <a:pt x="0" y="50451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09483">
            <a:off x="720435" y="184225"/>
            <a:ext cx="4131087" cy="3458064"/>
          </a:xfrm>
          <a:custGeom>
            <a:avLst/>
            <a:gdLst/>
            <a:ahLst/>
            <a:cxnLst/>
            <a:rect r="r" b="b" t="t" l="l"/>
            <a:pathLst>
              <a:path h="3458064" w="4131087">
                <a:moveTo>
                  <a:pt x="0" y="0"/>
                </a:moveTo>
                <a:lnTo>
                  <a:pt x="4131087" y="0"/>
                </a:lnTo>
                <a:lnTo>
                  <a:pt x="4131087" y="3458064"/>
                </a:lnTo>
                <a:lnTo>
                  <a:pt x="0" y="34580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4466587">
            <a:off x="12971810" y="615253"/>
            <a:ext cx="3644094" cy="3115701"/>
          </a:xfrm>
          <a:custGeom>
            <a:avLst/>
            <a:gdLst/>
            <a:ahLst/>
            <a:cxnLst/>
            <a:rect r="r" b="b" t="t" l="l"/>
            <a:pathLst>
              <a:path h="3115701" w="3644094">
                <a:moveTo>
                  <a:pt x="0" y="3115701"/>
                </a:moveTo>
                <a:lnTo>
                  <a:pt x="3644095" y="3115701"/>
                </a:lnTo>
                <a:lnTo>
                  <a:pt x="3644095" y="0"/>
                </a:lnTo>
                <a:lnTo>
                  <a:pt x="0" y="0"/>
                </a:lnTo>
                <a:lnTo>
                  <a:pt x="0" y="3115701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662337" y="7387623"/>
            <a:ext cx="20649439" cy="3746044"/>
            <a:chOff x="0" y="0"/>
            <a:chExt cx="27532586" cy="499472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9519200" y="1235157"/>
              <a:ext cx="9753600" cy="3759569"/>
            </a:xfrm>
            <a:custGeom>
              <a:avLst/>
              <a:gdLst/>
              <a:ahLst/>
              <a:cxnLst/>
              <a:rect r="r" b="b" t="t" l="l"/>
              <a:pathLst>
                <a:path h="3759569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3759569"/>
                  </a:lnTo>
                  <a:lnTo>
                    <a:pt x="0" y="37595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7778986" y="106266"/>
              <a:ext cx="9753600" cy="3759569"/>
            </a:xfrm>
            <a:custGeom>
              <a:avLst/>
              <a:gdLst/>
              <a:ahLst/>
              <a:cxnLst/>
              <a:rect r="r" b="b" t="t" l="l"/>
              <a:pathLst>
                <a:path h="3759569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3759570"/>
                  </a:lnTo>
                  <a:lnTo>
                    <a:pt x="0" y="3759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449382" cy="4027762"/>
            </a:xfrm>
            <a:custGeom>
              <a:avLst/>
              <a:gdLst/>
              <a:ahLst/>
              <a:cxnLst/>
              <a:rect r="r" b="b" t="t" l="l"/>
              <a:pathLst>
                <a:path h="4027762" w="10449382">
                  <a:moveTo>
                    <a:pt x="0" y="0"/>
                  </a:moveTo>
                  <a:lnTo>
                    <a:pt x="10449382" y="0"/>
                  </a:lnTo>
                  <a:lnTo>
                    <a:pt x="10449382" y="4027762"/>
                  </a:lnTo>
                  <a:lnTo>
                    <a:pt x="0" y="40277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855321" y="2332355"/>
            <a:ext cx="9030988" cy="6386302"/>
            <a:chOff x="0" y="0"/>
            <a:chExt cx="2378532" cy="168198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378532" cy="1681989"/>
            </a:xfrm>
            <a:custGeom>
              <a:avLst/>
              <a:gdLst/>
              <a:ahLst/>
              <a:cxnLst/>
              <a:rect r="r" b="b" t="t" l="l"/>
              <a:pathLst>
                <a:path h="1681989" w="2378532">
                  <a:moveTo>
                    <a:pt x="0" y="0"/>
                  </a:moveTo>
                  <a:lnTo>
                    <a:pt x="2378532" y="0"/>
                  </a:lnTo>
                  <a:lnTo>
                    <a:pt x="2378532" y="1681989"/>
                  </a:lnTo>
                  <a:lnTo>
                    <a:pt x="0" y="1681989"/>
                  </a:lnTo>
                  <a:close/>
                </a:path>
              </a:pathLst>
            </a:custGeom>
            <a:solidFill>
              <a:srgbClr val="52446A">
                <a:alpha val="85882"/>
              </a:srgbClr>
            </a:solidFill>
            <a:ln w="38100" cap="sq">
              <a:solidFill>
                <a:srgbClr val="131223">
                  <a:alpha val="85882"/>
                </a:srgbClr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378532" cy="17200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2804416" y="3009208"/>
            <a:ext cx="4257139" cy="4697532"/>
          </a:xfrm>
          <a:custGeom>
            <a:avLst/>
            <a:gdLst/>
            <a:ahLst/>
            <a:cxnLst/>
            <a:rect r="r" b="b" t="t" l="l"/>
            <a:pathLst>
              <a:path h="4697532" w="4257139">
                <a:moveTo>
                  <a:pt x="0" y="0"/>
                </a:moveTo>
                <a:lnTo>
                  <a:pt x="4257138" y="0"/>
                </a:lnTo>
                <a:lnTo>
                  <a:pt x="4257138" y="4697533"/>
                </a:lnTo>
                <a:lnTo>
                  <a:pt x="0" y="469753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graphicFrame>
        <p:nvGraphicFramePr>
          <p:cNvPr name="Table 14" id="14"/>
          <p:cNvGraphicFramePr>
            <a:graphicFrameLocks noGrp="true"/>
          </p:cNvGraphicFramePr>
          <p:nvPr/>
        </p:nvGraphicFramePr>
        <p:xfrm>
          <a:off x="2640063" y="2784958"/>
          <a:ext cx="7461504" cy="5505450"/>
        </p:xfrm>
        <a:graphic>
          <a:graphicData uri="http://schemas.openxmlformats.org/drawingml/2006/table">
            <a:tbl>
              <a:tblPr/>
              <a:tblGrid>
                <a:gridCol w="3730752"/>
                <a:gridCol w="3730752"/>
              </a:tblGrid>
              <a:tr h="80567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GOAL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TOOL TO USE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567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Get a “Top 10” list of values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Text Facet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137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Find the highest/lowest numbers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Numeric Facet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567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Fix 50 typos at once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Clustering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4137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Change “5000” to a real number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Common Transform → To Number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0567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Messed up!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60"/>
                        </a:lnSpc>
                        <a:defRPr/>
                      </a:pPr>
                      <a:r>
                        <a:rPr lang="en-US" sz="1900">
                          <a:solidFill>
                            <a:srgbClr val="FFFFFF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Undo / Redo Tab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5" id="15"/>
          <p:cNvSpPr txBox="true"/>
          <p:nvPr/>
        </p:nvSpPr>
        <p:spPr>
          <a:xfrm rot="0">
            <a:off x="2983563" y="1849253"/>
            <a:ext cx="6774503" cy="722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92"/>
              </a:lnSpc>
            </a:pPr>
            <a:r>
              <a:rPr lang="en-US" sz="6400">
                <a:solidFill>
                  <a:srgbClr val="FFFFFF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Cheat Sheet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509" t="0" r="-7436" b="-4325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032954" y="-2260195"/>
            <a:ext cx="5141557" cy="5045153"/>
          </a:xfrm>
          <a:custGeom>
            <a:avLst/>
            <a:gdLst/>
            <a:ahLst/>
            <a:cxnLst/>
            <a:rect r="r" b="b" t="t" l="l"/>
            <a:pathLst>
              <a:path h="5045153" w="5141557">
                <a:moveTo>
                  <a:pt x="0" y="0"/>
                </a:moveTo>
                <a:lnTo>
                  <a:pt x="5141556" y="0"/>
                </a:lnTo>
                <a:lnTo>
                  <a:pt x="5141556" y="5045153"/>
                </a:lnTo>
                <a:lnTo>
                  <a:pt x="0" y="50451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09483">
            <a:off x="720435" y="184225"/>
            <a:ext cx="4131087" cy="3458064"/>
          </a:xfrm>
          <a:custGeom>
            <a:avLst/>
            <a:gdLst/>
            <a:ahLst/>
            <a:cxnLst/>
            <a:rect r="r" b="b" t="t" l="l"/>
            <a:pathLst>
              <a:path h="3458064" w="4131087">
                <a:moveTo>
                  <a:pt x="0" y="0"/>
                </a:moveTo>
                <a:lnTo>
                  <a:pt x="4131087" y="0"/>
                </a:lnTo>
                <a:lnTo>
                  <a:pt x="4131087" y="3458064"/>
                </a:lnTo>
                <a:lnTo>
                  <a:pt x="0" y="34580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4466587">
            <a:off x="13792243" y="2528510"/>
            <a:ext cx="3644094" cy="3115701"/>
          </a:xfrm>
          <a:custGeom>
            <a:avLst/>
            <a:gdLst/>
            <a:ahLst/>
            <a:cxnLst/>
            <a:rect r="r" b="b" t="t" l="l"/>
            <a:pathLst>
              <a:path h="3115701" w="3644094">
                <a:moveTo>
                  <a:pt x="0" y="3115700"/>
                </a:moveTo>
                <a:lnTo>
                  <a:pt x="3644095" y="3115700"/>
                </a:lnTo>
                <a:lnTo>
                  <a:pt x="3644095" y="0"/>
                </a:lnTo>
                <a:lnTo>
                  <a:pt x="0" y="0"/>
                </a:lnTo>
                <a:lnTo>
                  <a:pt x="0" y="311570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662337" y="7387623"/>
            <a:ext cx="20649439" cy="3746044"/>
            <a:chOff x="0" y="0"/>
            <a:chExt cx="27532586" cy="499472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9519200" y="1235157"/>
              <a:ext cx="9753600" cy="3759569"/>
            </a:xfrm>
            <a:custGeom>
              <a:avLst/>
              <a:gdLst/>
              <a:ahLst/>
              <a:cxnLst/>
              <a:rect r="r" b="b" t="t" l="l"/>
              <a:pathLst>
                <a:path h="3759569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3759569"/>
                  </a:lnTo>
                  <a:lnTo>
                    <a:pt x="0" y="37595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7778986" y="106266"/>
              <a:ext cx="9753600" cy="3759569"/>
            </a:xfrm>
            <a:custGeom>
              <a:avLst/>
              <a:gdLst/>
              <a:ahLst/>
              <a:cxnLst/>
              <a:rect r="r" b="b" t="t" l="l"/>
              <a:pathLst>
                <a:path h="3759569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3759570"/>
                  </a:lnTo>
                  <a:lnTo>
                    <a:pt x="0" y="3759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449382" cy="4027762"/>
            </a:xfrm>
            <a:custGeom>
              <a:avLst/>
              <a:gdLst/>
              <a:ahLst/>
              <a:cxnLst/>
              <a:rect r="r" b="b" t="t" l="l"/>
              <a:pathLst>
                <a:path h="4027762" w="10449382">
                  <a:moveTo>
                    <a:pt x="0" y="0"/>
                  </a:moveTo>
                  <a:lnTo>
                    <a:pt x="10449382" y="0"/>
                  </a:lnTo>
                  <a:lnTo>
                    <a:pt x="10449382" y="4027762"/>
                  </a:lnTo>
                  <a:lnTo>
                    <a:pt x="0" y="40277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3206367" y="2446872"/>
            <a:ext cx="11875266" cy="6164235"/>
            <a:chOff x="0" y="0"/>
            <a:chExt cx="3127642" cy="162350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127642" cy="1623502"/>
            </a:xfrm>
            <a:custGeom>
              <a:avLst/>
              <a:gdLst/>
              <a:ahLst/>
              <a:cxnLst/>
              <a:rect r="r" b="b" t="t" l="l"/>
              <a:pathLst>
                <a:path h="1623502" w="3127642">
                  <a:moveTo>
                    <a:pt x="0" y="0"/>
                  </a:moveTo>
                  <a:lnTo>
                    <a:pt x="3127642" y="0"/>
                  </a:lnTo>
                  <a:lnTo>
                    <a:pt x="3127642" y="1623502"/>
                  </a:lnTo>
                  <a:lnTo>
                    <a:pt x="0" y="1623502"/>
                  </a:lnTo>
                  <a:close/>
                </a:path>
              </a:pathLst>
            </a:custGeom>
            <a:solidFill>
              <a:srgbClr val="52446A">
                <a:alpha val="85882"/>
              </a:srgbClr>
            </a:solidFill>
            <a:ln w="38100" cap="sq">
              <a:solidFill>
                <a:srgbClr val="131223">
                  <a:alpha val="85882"/>
                </a:srgbClr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3127642" cy="16616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3458532" y="3444920"/>
            <a:ext cx="8812431" cy="409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42012" indent="-421006" lvl="1">
              <a:lnSpc>
                <a:spcPts val="5460"/>
              </a:lnSpc>
              <a:buFont typeface="Arial"/>
              <a:buChar char="•"/>
            </a:pPr>
            <a:r>
              <a:rPr lang="en-US" sz="3900">
                <a:solidFill>
                  <a:srgbClr val="FFFFFF"/>
                </a:solidFill>
                <a:latin typeface="Pompiere"/>
                <a:ea typeface="Pompiere"/>
                <a:cs typeface="Pompiere"/>
                <a:sym typeface="Pompiere"/>
              </a:rPr>
              <a:t>Ruben Verborgh &amp; Max De Wilde: Using OpenRefine</a:t>
            </a:r>
          </a:p>
          <a:p>
            <a:pPr algn="l">
              <a:lnSpc>
                <a:spcPts val="5460"/>
              </a:lnSpc>
            </a:pPr>
          </a:p>
          <a:p>
            <a:pPr algn="l">
              <a:lnSpc>
                <a:spcPts val="5460"/>
              </a:lnSpc>
            </a:pPr>
          </a:p>
          <a:p>
            <a:pPr algn="l" marL="842012" indent="-421006" lvl="1">
              <a:lnSpc>
                <a:spcPts val="5460"/>
              </a:lnSpc>
              <a:buFont typeface="Arial"/>
              <a:buChar char="•"/>
            </a:pPr>
            <a:r>
              <a:rPr lang="en-US" sz="3900">
                <a:solidFill>
                  <a:srgbClr val="FFFFFF"/>
                </a:solidFill>
                <a:latin typeface="Pompiere"/>
                <a:ea typeface="Pompiere"/>
                <a:cs typeface="Pompiere"/>
                <a:sym typeface="Pompiere"/>
              </a:rPr>
              <a:t>Programming Historian (programminghistorian.org)</a:t>
            </a:r>
          </a:p>
          <a:p>
            <a:pPr algn="l">
              <a:lnSpc>
                <a:spcPts val="5460"/>
              </a:lnSpc>
            </a:pPr>
          </a:p>
          <a:p>
            <a:pPr algn="l" marL="842012" indent="-421006" lvl="1">
              <a:lnSpc>
                <a:spcPts val="5460"/>
              </a:lnSpc>
              <a:buFont typeface="Arial"/>
              <a:buChar char="•"/>
            </a:pPr>
            <a:r>
              <a:rPr lang="en-US" sz="3900">
                <a:solidFill>
                  <a:srgbClr val="FFFFFF"/>
                </a:solidFill>
                <a:latin typeface="Pompiere"/>
                <a:ea typeface="Pompiere"/>
                <a:cs typeface="Pompiere"/>
                <a:sym typeface="Pompiere"/>
              </a:rPr>
              <a:t>OpenRefine User Manual (docs.openrefine.org)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273189" y="2179957"/>
            <a:ext cx="9741621" cy="718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70"/>
              </a:lnSpc>
            </a:pPr>
            <a:r>
              <a:rPr lang="en-US" sz="6500">
                <a:solidFill>
                  <a:srgbClr val="FFFFFF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Extra Resources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-998391">
            <a:off x="2502791" y="7329199"/>
            <a:ext cx="1407152" cy="1766971"/>
          </a:xfrm>
          <a:custGeom>
            <a:avLst/>
            <a:gdLst/>
            <a:ahLst/>
            <a:cxnLst/>
            <a:rect r="r" b="b" t="t" l="l"/>
            <a:pathLst>
              <a:path h="1766971" w="1407152">
                <a:moveTo>
                  <a:pt x="0" y="0"/>
                </a:moveTo>
                <a:lnTo>
                  <a:pt x="1407152" y="0"/>
                </a:lnTo>
                <a:lnTo>
                  <a:pt x="1407152" y="1766971"/>
                </a:lnTo>
                <a:lnTo>
                  <a:pt x="0" y="176697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2700000">
            <a:off x="14099615" y="1736201"/>
            <a:ext cx="1964036" cy="2097514"/>
          </a:xfrm>
          <a:custGeom>
            <a:avLst/>
            <a:gdLst/>
            <a:ahLst/>
            <a:cxnLst/>
            <a:rect r="r" b="b" t="t" l="l"/>
            <a:pathLst>
              <a:path h="2097514" w="1964036">
                <a:moveTo>
                  <a:pt x="0" y="0"/>
                </a:moveTo>
                <a:lnTo>
                  <a:pt x="1964036" y="0"/>
                </a:lnTo>
                <a:lnTo>
                  <a:pt x="1964036" y="2097514"/>
                </a:lnTo>
                <a:lnTo>
                  <a:pt x="0" y="209751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4293262" y="4182833"/>
            <a:ext cx="7142971" cy="656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2659"/>
              </a:lnSpc>
              <a:buFont typeface="Arial"/>
              <a:buChar char="•"/>
            </a:pPr>
            <a:r>
              <a:rPr lang="en-US" sz="1899" u="sng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  <a:hlinkClick r:id="rId16" tooltip="https://www.oreilly.com/library/view/using-openrefine/9781783289080/ch03.html#ch03lvl1sec24"/>
              </a:rPr>
              <a:t>learning.oreilly.com/library/view/using-openrefine/9781783289080/ch03.html#ch03lvl1sec24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509" t="0" r="-7436" b="-4325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032954" y="-2260195"/>
            <a:ext cx="5141557" cy="5045153"/>
          </a:xfrm>
          <a:custGeom>
            <a:avLst/>
            <a:gdLst/>
            <a:ahLst/>
            <a:cxnLst/>
            <a:rect r="r" b="b" t="t" l="l"/>
            <a:pathLst>
              <a:path h="5045153" w="5141557">
                <a:moveTo>
                  <a:pt x="0" y="0"/>
                </a:moveTo>
                <a:lnTo>
                  <a:pt x="5141556" y="0"/>
                </a:lnTo>
                <a:lnTo>
                  <a:pt x="5141556" y="5045153"/>
                </a:lnTo>
                <a:lnTo>
                  <a:pt x="0" y="50451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09483">
            <a:off x="720435" y="184225"/>
            <a:ext cx="4131087" cy="3458064"/>
          </a:xfrm>
          <a:custGeom>
            <a:avLst/>
            <a:gdLst/>
            <a:ahLst/>
            <a:cxnLst/>
            <a:rect r="r" b="b" t="t" l="l"/>
            <a:pathLst>
              <a:path h="3458064" w="4131087">
                <a:moveTo>
                  <a:pt x="0" y="0"/>
                </a:moveTo>
                <a:lnTo>
                  <a:pt x="4131087" y="0"/>
                </a:lnTo>
                <a:lnTo>
                  <a:pt x="4131087" y="3458064"/>
                </a:lnTo>
                <a:lnTo>
                  <a:pt x="0" y="34580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true" rot="4466587">
            <a:off x="13792243" y="2528510"/>
            <a:ext cx="3644094" cy="3115701"/>
          </a:xfrm>
          <a:custGeom>
            <a:avLst/>
            <a:gdLst/>
            <a:ahLst/>
            <a:cxnLst/>
            <a:rect r="r" b="b" t="t" l="l"/>
            <a:pathLst>
              <a:path h="3115701" w="3644094">
                <a:moveTo>
                  <a:pt x="0" y="3115700"/>
                </a:moveTo>
                <a:lnTo>
                  <a:pt x="3644095" y="3115700"/>
                </a:lnTo>
                <a:lnTo>
                  <a:pt x="3644095" y="0"/>
                </a:lnTo>
                <a:lnTo>
                  <a:pt x="0" y="0"/>
                </a:lnTo>
                <a:lnTo>
                  <a:pt x="0" y="311570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662337" y="7387623"/>
            <a:ext cx="20649439" cy="3746044"/>
            <a:chOff x="0" y="0"/>
            <a:chExt cx="27532586" cy="499472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9519200" y="1235157"/>
              <a:ext cx="9753600" cy="3759569"/>
            </a:xfrm>
            <a:custGeom>
              <a:avLst/>
              <a:gdLst/>
              <a:ahLst/>
              <a:cxnLst/>
              <a:rect r="r" b="b" t="t" l="l"/>
              <a:pathLst>
                <a:path h="3759569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3759569"/>
                  </a:lnTo>
                  <a:lnTo>
                    <a:pt x="0" y="37595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7778986" y="106266"/>
              <a:ext cx="9753600" cy="3759569"/>
            </a:xfrm>
            <a:custGeom>
              <a:avLst/>
              <a:gdLst/>
              <a:ahLst/>
              <a:cxnLst/>
              <a:rect r="r" b="b" t="t" l="l"/>
              <a:pathLst>
                <a:path h="3759569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3759570"/>
                  </a:lnTo>
                  <a:lnTo>
                    <a:pt x="0" y="37595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449382" cy="4027762"/>
            </a:xfrm>
            <a:custGeom>
              <a:avLst/>
              <a:gdLst/>
              <a:ahLst/>
              <a:cxnLst/>
              <a:rect r="r" b="b" t="t" l="l"/>
              <a:pathLst>
                <a:path h="4027762" w="10449382">
                  <a:moveTo>
                    <a:pt x="0" y="0"/>
                  </a:moveTo>
                  <a:lnTo>
                    <a:pt x="10449382" y="0"/>
                  </a:lnTo>
                  <a:lnTo>
                    <a:pt x="10449382" y="4027762"/>
                  </a:lnTo>
                  <a:lnTo>
                    <a:pt x="0" y="40277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443574" y="2446872"/>
            <a:ext cx="5400853" cy="5393255"/>
            <a:chOff x="0" y="0"/>
            <a:chExt cx="1422447" cy="142044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422447" cy="1420446"/>
            </a:xfrm>
            <a:custGeom>
              <a:avLst/>
              <a:gdLst/>
              <a:ahLst/>
              <a:cxnLst/>
              <a:rect r="r" b="b" t="t" l="l"/>
              <a:pathLst>
                <a:path h="1420446" w="1422447">
                  <a:moveTo>
                    <a:pt x="0" y="0"/>
                  </a:moveTo>
                  <a:lnTo>
                    <a:pt x="1422447" y="0"/>
                  </a:lnTo>
                  <a:lnTo>
                    <a:pt x="1422447" y="1420446"/>
                  </a:lnTo>
                  <a:lnTo>
                    <a:pt x="0" y="1420446"/>
                  </a:lnTo>
                  <a:close/>
                </a:path>
              </a:pathLst>
            </a:custGeom>
            <a:solidFill>
              <a:srgbClr val="52446A">
                <a:alpha val="85882"/>
              </a:srgbClr>
            </a:solidFill>
            <a:ln w="38100" cap="sq">
              <a:solidFill>
                <a:srgbClr val="131223">
                  <a:alpha val="85882"/>
                </a:srgbClr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422447" cy="14585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7194939" y="3194439"/>
            <a:ext cx="3898122" cy="3898122"/>
          </a:xfrm>
          <a:custGeom>
            <a:avLst/>
            <a:gdLst/>
            <a:ahLst/>
            <a:cxnLst/>
            <a:rect r="r" b="b" t="t" l="l"/>
            <a:pathLst>
              <a:path h="3898122" w="3898122">
                <a:moveTo>
                  <a:pt x="0" y="0"/>
                </a:moveTo>
                <a:lnTo>
                  <a:pt x="3898122" y="0"/>
                </a:lnTo>
                <a:lnTo>
                  <a:pt x="3898122" y="3898122"/>
                </a:lnTo>
                <a:lnTo>
                  <a:pt x="0" y="389812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487565">
            <a:off x="5305926" y="2048104"/>
            <a:ext cx="2638786" cy="2292670"/>
          </a:xfrm>
          <a:custGeom>
            <a:avLst/>
            <a:gdLst/>
            <a:ahLst/>
            <a:cxnLst/>
            <a:rect r="r" b="b" t="t" l="l"/>
            <a:pathLst>
              <a:path h="2292670" w="2638786">
                <a:moveTo>
                  <a:pt x="0" y="0"/>
                </a:moveTo>
                <a:lnTo>
                  <a:pt x="2638786" y="0"/>
                </a:lnTo>
                <a:lnTo>
                  <a:pt x="2638786" y="2292670"/>
                </a:lnTo>
                <a:lnTo>
                  <a:pt x="0" y="229267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885154" y="1987661"/>
            <a:ext cx="8517691" cy="83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50"/>
              </a:lnSpc>
            </a:pPr>
            <a:r>
              <a:rPr lang="en-US" sz="7500">
                <a:solidFill>
                  <a:srgbClr val="FFFFFF"/>
                </a:solidFill>
                <a:latin typeface="Cosmic Octo Medium"/>
                <a:ea typeface="Cosmic Octo Medium"/>
                <a:cs typeface="Cosmic Octo Medium"/>
                <a:sym typeface="Cosmic Octo Medium"/>
              </a:rPr>
              <a:t>Thank you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1114813" y="7092561"/>
            <a:ext cx="2288032" cy="1725690"/>
          </a:xfrm>
          <a:custGeom>
            <a:avLst/>
            <a:gdLst/>
            <a:ahLst/>
            <a:cxnLst/>
            <a:rect r="r" b="b" t="t" l="l"/>
            <a:pathLst>
              <a:path h="1725690" w="2288032">
                <a:moveTo>
                  <a:pt x="0" y="0"/>
                </a:moveTo>
                <a:lnTo>
                  <a:pt x="2288033" y="0"/>
                </a:lnTo>
                <a:lnTo>
                  <a:pt x="2288033" y="1725690"/>
                </a:lnTo>
                <a:lnTo>
                  <a:pt x="0" y="172569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DAG-OwrNljU</dc:identifier>
  <dcterms:modified xsi:type="dcterms:W3CDTF">2011-08-01T06:04:30Z</dcterms:modified>
  <cp:revision>1</cp:revision>
  <dc:title>openrefine_workshop_slides</dc:title>
</cp:coreProperties>
</file>